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6" y="6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ewantbhriguvanshi/customer-shopping-trends-india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914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841665"/>
            <a:ext cx="11239500" cy="638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712" y="1691311"/>
            <a:ext cx="3838575" cy="333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8125" y="2343774"/>
            <a:ext cx="11715750" cy="602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 dirty="0">
                <a:solidFill>
                  <a:srgbClr val="0F172A"/>
                </a:solidFill>
                <a:latin typeface="Poppins"/>
              </a:rPr>
              <a:t>Customer </a:t>
            </a:r>
            <a:r>
              <a:rPr sz="4000" b="1" i="0" u="none" dirty="0">
                <a:solidFill>
                  <a:srgbClr val="0F172A"/>
                </a:solidFill>
                <a:latin typeface="Poppins"/>
              </a:rPr>
              <a:t>Shopping</a:t>
            </a:r>
            <a:r>
              <a:rPr sz="3900" b="1" i="0" u="none" dirty="0">
                <a:solidFill>
                  <a:srgbClr val="0F172A"/>
                </a:solidFill>
                <a:latin typeface="Poppins"/>
              </a:rPr>
              <a:t>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043591"/>
            <a:ext cx="11239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475569"/>
                </a:solidFill>
                <a:latin typeface="Lato"/>
              </a:rPr>
              <a:t>Predictive Analytics &amp; Behavior Modeling for Indian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3960383"/>
            <a:ext cx="11239500" cy="442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0" i="0" u="none" dirty="0">
                <a:solidFill>
                  <a:srgbClr val="64748B"/>
                </a:solidFill>
                <a:latin typeface="Lato"/>
              </a:rPr>
              <a:t>Course: Data Analytics Laboratory</a:t>
            </a:r>
            <a:endParaRPr lang="en-US" sz="1400" b="0" i="0" u="none" dirty="0">
              <a:solidFill>
                <a:srgbClr val="64748B"/>
              </a:solidFill>
              <a:latin typeface="Lato"/>
            </a:endParaRPr>
          </a:p>
          <a:p>
            <a:pPr algn="ctr">
              <a:lnSpc>
                <a:spcPts val="1800"/>
              </a:lnSpc>
            </a:pPr>
            <a:r>
              <a:rPr lang="en-US" sz="1400" b="0" i="0" u="none" dirty="0">
                <a:solidFill>
                  <a:srgbClr val="64748B"/>
                </a:solidFill>
                <a:latin typeface="Lato"/>
              </a:rPr>
              <a:t>Summer 2026</a:t>
            </a:r>
            <a:endParaRPr sz="1400" b="0" i="0" u="none" dirty="0">
              <a:solidFill>
                <a:srgbClr val="64748B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49498" y="5160753"/>
            <a:ext cx="2693004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Lato"/>
              </a:rPr>
              <a:t>Md Mainul Islam</a:t>
            </a:r>
          </a:p>
          <a:p>
            <a:pPr algn="ctr"/>
            <a:r>
              <a:rPr sz="2000" b="0" i="0" u="none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dirty="0">
                <a:solidFill>
                  <a:srgbClr val="64748B"/>
                </a:solidFill>
                <a:latin typeface="Lato"/>
              </a:rPr>
              <a:t>0152430008</a:t>
            </a:r>
          </a:p>
          <a:p>
            <a:pPr algn="ctr"/>
            <a:r>
              <a:rPr lang="en-US" b="0" i="0" u="none" dirty="0">
                <a:solidFill>
                  <a:srgbClr val="64748B"/>
                </a:solidFill>
                <a:latin typeface="Lato"/>
              </a:rPr>
              <a:t>Sec</a:t>
            </a:r>
            <a:r>
              <a:rPr lang="en-US" dirty="0">
                <a:solidFill>
                  <a:srgbClr val="64748B"/>
                </a:solidFill>
                <a:latin typeface="Lato"/>
              </a:rPr>
              <a:t> : BB</a:t>
            </a:r>
            <a:endParaRPr lang="en-US" i="0" dirty="0">
              <a:solidFill>
                <a:srgbClr val="1D2125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sz="2000" b="0" i="0" u="none" dirty="0">
              <a:solidFill>
                <a:srgbClr val="64748B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45530"/>
            <a:ext cx="3587799" cy="31683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345531"/>
            <a:ext cx="3587799" cy="3168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565" y="2366343"/>
            <a:ext cx="3587799" cy="3168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62075" y="2717938"/>
            <a:ext cx="32471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chemeClr val="bg1">
                    <a:lumMod val="75000"/>
                  </a:schemeClr>
                </a:solidFill>
                <a:latin typeface="Poppins SemiBold"/>
              </a:rPr>
              <a:t>Domain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033" y="3189798"/>
            <a:ext cx="3092499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1" i="0" u="none" dirty="0">
                <a:solidFill>
                  <a:srgbClr val="334155"/>
                </a:solidFill>
                <a:latin typeface="Lato"/>
              </a:rPr>
              <a:t>Indian Omnichannel Retail &amp;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1" y="3950492"/>
            <a:ext cx="3058766" cy="948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lang="en-US" sz="1275" dirty="0">
                <a:solidFill>
                  <a:srgbClr val="334155"/>
                </a:solidFill>
                <a:latin typeface="Lato"/>
              </a:rPr>
              <a:t>C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onsumer buying behavior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en-US" sz="1275" dirty="0">
                <a:solidFill>
                  <a:srgbClr val="334155"/>
                </a:solidFill>
                <a:latin typeface="Lato"/>
              </a:rPr>
              <a:t>R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egional platform preferences (Amazon, Flipkart, Myntra)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lang="en-US" sz="1275" dirty="0">
                <a:solidFill>
                  <a:srgbClr val="334155"/>
                </a:solidFill>
                <a:latin typeface="Lato"/>
              </a:rPr>
              <a:t>P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romotional sale event dynamics.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8316" y="2688187"/>
            <a:ext cx="32471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chemeClr val="bg1">
                    <a:lumMod val="75000"/>
                  </a:schemeClr>
                </a:solidFill>
                <a:latin typeface="Poppins SemiBold"/>
              </a:rPr>
              <a:t>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1242" y="3289845"/>
            <a:ext cx="3587641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1" i="0" u="none" dirty="0">
                <a:solidFill>
                  <a:srgbClr val="334155"/>
                </a:solidFill>
                <a:latin typeface="Lato"/>
              </a:rPr>
              <a:t>Logistics &amp; Return Bottlenecks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824" y="3950493"/>
            <a:ext cx="3092499" cy="948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High return rates</a:t>
            </a:r>
            <a:endParaRPr lang="en-US" sz="1275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lang="en-US" sz="1275" dirty="0">
                <a:solidFill>
                  <a:srgbClr val="334155"/>
                </a:solidFill>
                <a:latin typeface="Lato"/>
              </a:rPr>
              <a:t>D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elivery delays impairing ratings</a:t>
            </a:r>
            <a:endParaRPr lang="en-US" sz="1275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lang="en-US" sz="1275" dirty="0">
                <a:solidFill>
                  <a:srgbClr val="334155"/>
                </a:solidFill>
                <a:latin typeface="Lato"/>
              </a:rPr>
              <a:t>I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neffective discount allocation during sales.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4876" y="2683668"/>
            <a:ext cx="32471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chemeClr val="bg1">
                    <a:lumMod val="75000"/>
                  </a:schemeClr>
                </a:solidFill>
                <a:latin typeface="Poppins SemiBold"/>
              </a:rPr>
              <a:t>Expected 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3911" y="3314873"/>
            <a:ext cx="3567078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1" i="0" u="none" dirty="0">
                <a:solidFill>
                  <a:srgbClr val="334155"/>
                </a:solidFill>
                <a:latin typeface="Lato"/>
              </a:rPr>
              <a:t>Revenue &amp; Value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749" y="3950493"/>
            <a:ext cx="3092499" cy="948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Predict return risks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lang="en-US" sz="1275" dirty="0">
                <a:solidFill>
                  <a:srgbClr val="334155"/>
                </a:solidFill>
                <a:latin typeface="Lato"/>
              </a:rPr>
              <a:t>O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ptimize logistics timelines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en-US" sz="1275" dirty="0">
                <a:solidFill>
                  <a:srgbClr val="334155"/>
                </a:solidFill>
                <a:latin typeface="Lato"/>
              </a:rPr>
              <a:t>P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ersonalize promotions 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lang="en-US" sz="1275" dirty="0">
                <a:solidFill>
                  <a:srgbClr val="334155"/>
                </a:solidFill>
                <a:latin typeface="Lato"/>
              </a:rPr>
              <a:t>C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ustomer segmentation.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021" y="1886886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5098" y="1886886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4550" y="1872734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Business Problem &amp; Domain Selection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9144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650086"/>
              </p:ext>
            </p:extLst>
          </p:nvPr>
        </p:nvGraphicFramePr>
        <p:xfrm>
          <a:off x="219456" y="2576560"/>
          <a:ext cx="11826241" cy="2509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1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Criteria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Required Benchmark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Our Dataset Specification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Compliance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Data 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Verifiable Repository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Kaggle (</a:t>
                      </a:r>
                      <a:r>
                        <a:rPr lang="en-US" sz="1125" b="0" i="0" u="none" dirty="0">
                          <a:solidFill>
                            <a:srgbClr val="002060"/>
                          </a:solidFill>
                          <a:latin typeface="Lato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https://www.kaggle.com/datasets/rewantbhriguvanshi/customer-shopping-trends-indian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Verified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Row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Minimum 2,000 Rows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10000</a:t>
                      </a:r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 Synthetic Transactions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 (Jan 2023 - Dec 2024)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Compliant 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Feature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Minimum 25 Features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26</a:t>
                      </a:r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 Features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 (Demographics, Logistics, Payments, Ratings)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Compliant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Key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Multi-domain metrics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Transaction ID, Age, Gender, Brand, Amount(₹), Shipping Time, Return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High Diversity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48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Data Quality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Clean &amp; Realistic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Relational logic enforced (e.g., Same-day = 0 days, brand-category locks)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Verified Integrity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76250" y="3407568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84908" y="3407568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06019" y="3407568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38258" y="3407568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6250" y="3821906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84908" y="3821906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06019" y="3821906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38258" y="3821906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6250" y="4236243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84908" y="4236243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06019" y="4236243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38258" y="4236243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6250" y="4650581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84908" y="4650581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06019" y="4650581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38258" y="4650581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6250" y="5064918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84908" y="5064918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06019" y="5064918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38258" y="5064918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708" y="3555206"/>
            <a:ext cx="1428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708" y="4798218"/>
            <a:ext cx="1428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708" y="3969543"/>
            <a:ext cx="1428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708" y="3140868"/>
            <a:ext cx="1428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708" y="4383881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708" y="3140868"/>
            <a:ext cx="1428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708" y="3555206"/>
            <a:ext cx="14287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708" y="3969543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708" y="4383881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708" y="4798218"/>
            <a:ext cx="142875" cy="1428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03098" y="1168027"/>
            <a:ext cx="117157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1E3A8A"/>
                </a:solidFill>
                <a:latin typeface="Poppins"/>
              </a:rPr>
              <a:t>Dataset Specification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" y="-11907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148829"/>
              </p:ext>
            </p:extLst>
          </p:nvPr>
        </p:nvGraphicFramePr>
        <p:xfrm>
          <a:off x="292607" y="2590164"/>
          <a:ext cx="11764859" cy="2509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8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5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u="none" dirty="0">
                          <a:solidFill>
                            <a:srgbClr val="FFFFFF"/>
                          </a:solidFill>
                          <a:latin typeface="Poppins"/>
                        </a:rPr>
                        <a:t>Feature Column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u="none" dirty="0">
                          <a:solidFill>
                            <a:srgbClr val="FFFFFF"/>
                          </a:solidFill>
                          <a:latin typeface="Poppins"/>
                        </a:rPr>
                        <a:t>Raw Missing Rows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u="none" dirty="0">
                          <a:solidFill>
                            <a:srgbClr val="FFFFFF"/>
                          </a:solidFill>
                          <a:latin typeface="Poppins"/>
                        </a:rPr>
                        <a:t>Missing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u="none" dirty="0">
                          <a:solidFill>
                            <a:srgbClr val="FFFFFF"/>
                          </a:solidFill>
                          <a:latin typeface="Poppins"/>
                        </a:rPr>
                        <a:t>Root Cause / Logical Context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lang="en-US" sz="1125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Online Store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2,249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22.49%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In-Store Purchases: Offline transactions naturally have no online platform.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lang="en-US" sz="1125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1,035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10.35%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Non-Sized Products: Electronics, Groceries, and Accessories do not have sizes.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lang="en-US" sz="1125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Festival/Sale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6,788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67.88%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Regular Days: Transactions occurred on non-promotional/standard sales days.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lang="en-US" sz="1125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Delivery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2,249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22.49%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In-Store Purchases: Physical store purchases do not involve delivery.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482">
                <a:tc>
                  <a:txBody>
                    <a:bodyPr/>
                    <a:lstStyle/>
                    <a:p>
                      <a:pPr algn="l"/>
                      <a:r>
                        <a:rPr lang="en-US" sz="1125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Others</a:t>
                      </a:r>
                      <a:endParaRPr sz="1125" b="1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0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0%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Synthetic Dataset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76250" y="3407568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84908" y="3407568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06019" y="3407568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38258" y="3407568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6250" y="3821906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84908" y="3821906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06019" y="3821906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38258" y="3821906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6250" y="4236243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84908" y="4236243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06019" y="4236243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38258" y="4236243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6250" y="4650581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84908" y="4650581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06019" y="4650581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38258" y="4650581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6250" y="5064918"/>
            <a:ext cx="14086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84908" y="5064918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06019" y="5064918"/>
            <a:ext cx="5532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38258" y="5064918"/>
            <a:ext cx="20774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3098" y="1168027"/>
            <a:ext cx="117157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1E3A8A"/>
                </a:solidFill>
                <a:latin typeface="Poppins"/>
              </a:rPr>
              <a:t>Quality Check</a:t>
            </a:r>
          </a:p>
        </p:txBody>
      </p:sp>
    </p:spTree>
    <p:extLst>
      <p:ext uri="{BB962C8B-B14F-4D97-AF65-F5344CB8AC3E}">
        <p14:creationId xmlns:p14="http://schemas.microsoft.com/office/powerpoint/2010/main" val="8801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4292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050" y="1500187"/>
            <a:ext cx="5429250" cy="948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Lato"/>
              </a:rPr>
              <a:t>Planned Preprocessing: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sz="1275" b="1" i="0" u="none" dirty="0">
                <a:solidFill>
                  <a:srgbClr val="334155"/>
                </a:solidFill>
                <a:latin typeface="Lato"/>
              </a:rPr>
              <a:t>Standardization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of numerical values (`Purchase Amount`, `Discount %`)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sz="1275" b="1" i="0" u="none" dirty="0">
                <a:solidFill>
                  <a:srgbClr val="334155"/>
                </a:solidFill>
                <a:latin typeface="Lato"/>
              </a:rPr>
              <a:t>One-Hot Encoding 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for categorical cities and stores</a:t>
            </a:r>
            <a:endParaRPr lang="en-US" sz="1275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lang="en-US" sz="1275" b="1" dirty="0">
                <a:solidFill>
                  <a:srgbClr val="334155"/>
                </a:solidFill>
                <a:latin typeface="Lato"/>
              </a:rPr>
              <a:t>O</a:t>
            </a:r>
            <a:r>
              <a:rPr sz="1275" b="1" i="0" u="none" dirty="0">
                <a:solidFill>
                  <a:srgbClr val="334155"/>
                </a:solidFill>
                <a:latin typeface="Lato"/>
              </a:rPr>
              <a:t>rdinal scaling 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for customer size choices.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050" y="2832830"/>
            <a:ext cx="5124450" cy="11921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Lato"/>
              </a:rPr>
              <a:t>EDA Objectives: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Analyze festive vs. standard sales volume (</a:t>
            </a:r>
            <a:r>
              <a:rPr sz="1275" b="1" i="0" u="none" dirty="0">
                <a:solidFill>
                  <a:srgbClr val="334155"/>
                </a:solidFill>
                <a:latin typeface="Lato"/>
              </a:rPr>
              <a:t>e.g., Big Billion Days spikes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)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lang="en-US" sz="1275" dirty="0">
                <a:solidFill>
                  <a:srgbClr val="334155"/>
                </a:solidFill>
                <a:latin typeface="Lato"/>
              </a:rPr>
              <a:t>E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valuate channel share (</a:t>
            </a:r>
            <a:r>
              <a:rPr lang="en-US" sz="1275" b="1" i="0" u="none" dirty="0">
                <a:solidFill>
                  <a:srgbClr val="334155"/>
                </a:solidFill>
                <a:latin typeface="Lato"/>
              </a:rPr>
              <a:t>e.g., </a:t>
            </a:r>
            <a:r>
              <a:rPr sz="1275" b="1" i="0" u="none" dirty="0">
                <a:solidFill>
                  <a:srgbClr val="334155"/>
                </a:solidFill>
                <a:latin typeface="Lato"/>
              </a:rPr>
              <a:t>Online vs Offline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)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lang="en-US" sz="1275" dirty="0">
                <a:solidFill>
                  <a:srgbClr val="334155"/>
                </a:solidFill>
                <a:latin typeface="Lato"/>
              </a:rPr>
              <a:t>M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ap spending across age brackets.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4409130"/>
            <a:ext cx="5124450" cy="11921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Lato"/>
              </a:rPr>
              <a:t>Core Hypotheses: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1. Delivery times over 3 days lead to lower review ratings and higher return rates.</a:t>
            </a:r>
            <a:r>
              <a:rPr dirty="0"/>
              <a:t>
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2. Festival sales yield higher purchase values but suffer increased return rates.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14537"/>
            <a:ext cx="5410200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37" y="1576386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" y="2832830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" y="4409216"/>
            <a:ext cx="17145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Preprocessing &amp; EDA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07431"/>
            <a:ext cx="3587799" cy="3014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307431"/>
            <a:ext cx="3587799" cy="30146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07431"/>
            <a:ext cx="3587799" cy="30146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3145631"/>
            <a:ext cx="32471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Feature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55206"/>
            <a:ext cx="3092499" cy="704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Mutual Information Gain 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marL="285750" indent="-285750" algn="l">
              <a:lnSpc>
                <a:spcPts val="1912"/>
              </a:lnSpc>
              <a:buFont typeface="Wingdings" panose="05000000000000000000" pitchFamily="2" charset="2"/>
              <a:buChar char="q"/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Lato"/>
              </a:rPr>
              <a:t>XGBoost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</a:t>
            </a:r>
            <a:endParaRPr lang="en-US" sz="1275" b="0" i="0" u="none" dirty="0">
              <a:solidFill>
                <a:srgbClr val="334155"/>
              </a:solidFill>
              <a:latin typeface="Lato"/>
            </a:endParaRPr>
          </a:p>
          <a:p>
            <a:pPr algn="l">
              <a:lnSpc>
                <a:spcPts val="1912"/>
              </a:lnSpc>
            </a:pPr>
            <a:r>
              <a:rPr lang="en-US" sz="1275" b="0" i="0" u="none" dirty="0">
                <a:solidFill>
                  <a:srgbClr val="334155"/>
                </a:solidFill>
                <a:latin typeface="Lato"/>
              </a:rPr>
              <a:t>F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eature</a:t>
            </a:r>
            <a:r>
              <a:rPr lang="en-US" sz="1275" dirty="0">
                <a:solidFill>
                  <a:srgbClr val="334155"/>
                </a:solidFill>
                <a:latin typeface="Lato"/>
              </a:rPr>
              <a:t> 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importance ranking.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52" y="4438173"/>
            <a:ext cx="30924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Lato"/>
              </a:rPr>
              <a:t>Baseline vs Reduced: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Benchmarking model performance using </a:t>
            </a:r>
            <a:r>
              <a:rPr sz="1275" b="0" i="1" u="none" dirty="0">
                <a:solidFill>
                  <a:srgbClr val="334155"/>
                </a:solidFill>
                <a:latin typeface="Lato"/>
              </a:rPr>
              <a:t>All </a:t>
            </a:r>
            <a:r>
              <a:rPr sz="1275" b="1" i="1" u="none" dirty="0">
                <a:solidFill>
                  <a:srgbClr val="334155"/>
                </a:solidFill>
                <a:latin typeface="Lato"/>
              </a:rPr>
              <a:t>2</a:t>
            </a:r>
            <a:r>
              <a:rPr lang="en-US" sz="1275" b="1" i="1" u="none" dirty="0">
                <a:solidFill>
                  <a:srgbClr val="334155"/>
                </a:solidFill>
                <a:latin typeface="Lato"/>
              </a:rPr>
              <a:t>6</a:t>
            </a:r>
            <a:r>
              <a:rPr sz="1275" b="1" i="1" u="none" dirty="0">
                <a:solidFill>
                  <a:srgbClr val="334155"/>
                </a:solidFill>
                <a:latin typeface="Lato"/>
              </a:rPr>
              <a:t> Features</a:t>
            </a:r>
            <a:r>
              <a:rPr sz="1275" b="1" i="0" u="none" dirty="0">
                <a:solidFill>
                  <a:srgbClr val="334155"/>
                </a:solidFill>
                <a:latin typeface="Lato"/>
              </a:rPr>
              <a:t> vs. </a:t>
            </a:r>
            <a:r>
              <a:rPr sz="1275" b="1" i="1" u="none" dirty="0">
                <a:solidFill>
                  <a:srgbClr val="334155"/>
                </a:solidFill>
                <a:latin typeface="Lato"/>
              </a:rPr>
              <a:t>Top 10 Features</a:t>
            </a:r>
            <a:r>
              <a:rPr sz="1275" b="1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9824" y="3145631"/>
            <a:ext cx="32471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ML &amp; DL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9824" y="3555206"/>
            <a:ext cx="3092499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Planned 4 Candidate Models: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3145631"/>
            <a:ext cx="32471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AI Agent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749" y="3555206"/>
            <a:ext cx="3092499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Return Risk &amp; Discount Advisor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749" y="3912393"/>
            <a:ext cx="30924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Automated agent predicting transaction return risk prior to dispatch and suggesting personalized discount rates to boost retention.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631281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2631281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26024" y="395763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1274" y="3960018"/>
            <a:ext cx="2921049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Lato"/>
              </a:rPr>
              <a:t>XGBoost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024" y="42005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1274" y="4202906"/>
            <a:ext cx="2921049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Random Forest 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024" y="4443412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1274" y="4445793"/>
            <a:ext cx="2921049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Logistic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024" y="468630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1274" y="4688681"/>
            <a:ext cx="2921049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Lato"/>
              </a:rPr>
              <a:t>LightGBM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/ MLP Network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49" y="2631281"/>
            <a:ext cx="428625" cy="342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Feature Selection &amp; Modeling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4292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8761" y="2698030"/>
            <a:ext cx="2452879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334155"/>
                </a:solidFill>
                <a:latin typeface="Lato"/>
              </a:rPr>
              <a:t>Framework Choice:</a:t>
            </a:r>
            <a:r>
              <a:rPr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en-US" b="0" i="0" u="none" dirty="0" err="1">
                <a:solidFill>
                  <a:srgbClr val="334155"/>
                </a:solidFill>
                <a:latin typeface="Lato"/>
              </a:rPr>
              <a:t>ReTool</a:t>
            </a:r>
            <a:r>
              <a:rPr b="0" i="0" u="none" dirty="0">
                <a:solidFill>
                  <a:srgbClr val="334155"/>
                </a:solidFill>
                <a:latin typeface="Lato"/>
              </a:rPr>
              <a:t> &amp; </a:t>
            </a:r>
            <a:r>
              <a:rPr lang="en-US" b="0" i="0" u="none" dirty="0" err="1">
                <a:solidFill>
                  <a:srgbClr val="334155"/>
                </a:solidFill>
                <a:latin typeface="Lato"/>
              </a:rPr>
              <a:t>PowerBI</a:t>
            </a:r>
            <a:r>
              <a:rPr lang="en-US" b="0" i="0" u="none" dirty="0">
                <a:solidFill>
                  <a:srgbClr val="334155"/>
                </a:solidFill>
                <a:latin typeface="Lato"/>
              </a:rPr>
              <a:t>/Tableau </a:t>
            </a:r>
            <a:r>
              <a:rPr b="0" i="0" u="none" dirty="0">
                <a:solidFill>
                  <a:srgbClr val="334155"/>
                </a:solidFill>
                <a:latin typeface="Lato"/>
              </a:rPr>
              <a:t>interactive web application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7371" y="2698030"/>
            <a:ext cx="2452879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334155"/>
                </a:solidFill>
                <a:latin typeface="Lato"/>
              </a:rPr>
              <a:t>Wireframe Layout:</a:t>
            </a:r>
            <a:endParaRPr lang="en-US" b="1" i="0" u="none" dirty="0">
              <a:solidFill>
                <a:srgbClr val="334155"/>
              </a:solidFill>
              <a:latin typeface="Lato"/>
            </a:endParaRPr>
          </a:p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334155"/>
                </a:solidFill>
                <a:latin typeface="Lato"/>
              </a:rPr>
              <a:t> 3-tier design featuring KPI Metric Cards, Interactive EDA Drill-downs, and an AI Agent Prediction Portal.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14537"/>
            <a:ext cx="5410200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768" y="2128098"/>
            <a:ext cx="321433" cy="29348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8598" y="2128098"/>
            <a:ext cx="321433" cy="2934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Interactive Dashboard &amp; Deliverables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8125" y="2363092"/>
            <a:ext cx="11715750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1E3A8A"/>
                </a:solidFill>
                <a:latin typeface="Poppins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3237458"/>
            <a:ext cx="11239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334155"/>
                </a:solidFill>
                <a:latin typeface="Lato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3866108"/>
            <a:ext cx="11239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Lato"/>
              </a:rPr>
              <a:t>Data Analytics Laboratory • Summer 2026</a:t>
            </a:r>
            <a:r>
              <a:t>
</a:t>
            </a:r>
            <a:r>
              <a:rPr sz="1350" b="0" i="0" u="none">
                <a:solidFill>
                  <a:srgbClr val="64748B"/>
                </a:solidFill>
                <a:latin typeface="Lato"/>
              </a:rPr>
              <a:t> United International University (UIU)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3048000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6250" y="381000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6250" y="381000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1908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1625" y="3198018"/>
            <a:ext cx="10144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Lato"/>
              </a:rPr>
              <a:t>https://www.spec-india.com/wp-content/uploads/2022/09/Banner-Retail-Dashboard-In-Power-BI.png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" y="3431381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www.spec-india.com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96240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1625" y="3969543"/>
            <a:ext cx="10144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Lato"/>
              </a:rPr>
              <a:t>https://mokkupai.s3.ap-south-1.amazonaws.com/files/assets/blogs/cover-images/193.png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4202906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www.mokkup.ai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612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Google Sans Text</vt:lpstr>
      <vt:lpstr>Lato</vt:lpstr>
      <vt:lpstr>Poppins</vt:lpstr>
      <vt:lpstr>Poppins SemiBold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USERAS</dc:creator>
  <cp:keywords/>
  <dc:description>generated using python-pptx</dc:description>
  <cp:lastModifiedBy>Mainul Islam</cp:lastModifiedBy>
  <cp:revision>3</cp:revision>
  <dcterms:created xsi:type="dcterms:W3CDTF">2013-01-27T09:14:16Z</dcterms:created>
  <dcterms:modified xsi:type="dcterms:W3CDTF">2026-08-11T17:00:41Z</dcterms:modified>
  <cp:category/>
</cp:coreProperties>
</file>